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23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949440" y="-2377440"/>
            <a:ext cx="6583680" cy="6583680"/>
          </a:xfrm>
          <a:prstGeom prst="ellipse">
            <a:avLst/>
          </a:prstGeom>
          <a:solidFill>
            <a:srgbClr val="0FA968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3840480"/>
            <a:ext cx="4754880" cy="4754880"/>
          </a:xfrm>
          <a:prstGeom prst="ellipse">
            <a:avLst/>
          </a:prstGeom>
          <a:solidFill>
            <a:srgbClr val="34E0A1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1645920" y="4754880"/>
            <a:ext cx="4023360" cy="4023360"/>
          </a:xfrm>
          <a:prstGeom prst="ellipse">
            <a:avLst/>
          </a:prstGeom>
          <a:solidFill>
            <a:srgbClr val="F5B301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051560"/>
            <a:ext cx="4224528" cy="365760"/>
          </a:xfrm>
          <a:prstGeom prst="roundRect">
            <a:avLst>
              <a:gd name="adj" fmla="val 50000"/>
            </a:avLst>
          </a:prstGeom>
          <a:solidFill>
            <a:srgbClr val="34E0A1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0" bIns="0"/>
          <a:lstStyle/>
          <a:p>
            <a:pPr algn="ctr"/>
            <a:r>
              <a:rPr sz="1000" b="1" spc="120">
                <a:solidFill>
                  <a:srgbClr val="34E0A1"/>
                </a:solidFill>
                <a:latin typeface="Segoe UI"/>
              </a:rPr>
              <a:t>ZERO TO QUERY  ·  SUB0 + LINGOQL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64208"/>
            <a:ext cx="85953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200" b="1" i="0">
                <a:solidFill>
                  <a:srgbClr val="FFFFFF"/>
                </a:solidFill>
                <a:latin typeface="Segoe UI"/>
              </a:rPr>
              <a:t>CircleSafe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816352"/>
            <a:ext cx="8595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 i="0">
                <a:solidFill>
                  <a:srgbClr val="34E0A1"/>
                </a:solidFill>
                <a:latin typeface="Segoe UI"/>
              </a:rPr>
              <a:t>Trustworthy Ajo. Every naira accounted for.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429000"/>
            <a:ext cx="7223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AFC7BC"/>
                </a:solidFill>
                <a:latin typeface="Segoe UI"/>
              </a:rPr>
              <a:t>A transparent, append-only system of record for rotating savings groups — Ajo · Esusu · Susu · Tontine — the informal circles that move enormous amounts of money across West Africa every week on nothing but a notebook and trust.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4681728"/>
            <a:ext cx="10817352" cy="12700"/>
          </a:xfrm>
          <a:prstGeom prst="rect">
            <a:avLst/>
          </a:prstGeom>
          <a:solidFill>
            <a:srgbClr val="1439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4956048"/>
            <a:ext cx="2331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FFFFFF"/>
                </a:solidFill>
                <a:latin typeface="Segoe UI"/>
              </a:rPr>
              <a:t>39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468112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8FAEA1"/>
                </a:solidFill>
                <a:latin typeface="Segoe UI"/>
              </a:rPr>
              <a:t>API endpoints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4956048"/>
            <a:ext cx="2331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FFFFFF"/>
                </a:solidFill>
                <a:latin typeface="Segoe UI"/>
              </a:rPr>
              <a:t>11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5468112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8FAEA1"/>
                </a:solidFill>
                <a:latin typeface="Segoe UI"/>
              </a:rPr>
              <a:t>Postgres tables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60" y="4956048"/>
            <a:ext cx="2331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0760" y="5468112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8FAEA1"/>
                </a:solidFill>
                <a:latin typeface="Segoe UI"/>
              </a:rPr>
              <a:t>Append-only audit log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0" y="4956048"/>
            <a:ext cx="2331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FFFFFF"/>
                </a:solidFill>
                <a:latin typeface="Segoe UI"/>
              </a:rPr>
              <a:t>100%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0" y="5468112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8FAEA1"/>
                </a:solidFill>
                <a:latin typeface="Segoe UI"/>
              </a:rPr>
              <a:t>Auditable history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614476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C8A7D"/>
                </a:solidFill>
                <a:latin typeface="Segoe UI"/>
              </a:rPr>
              <a:t>Project documentation  ·  July 2026  ·  github.com/akaheem/Circle-Safe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7548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 spc="140">
                <a:solidFill>
                  <a:srgbClr val="0FA968"/>
                </a:solidFill>
                <a:latin typeface="Segoe U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86384"/>
            <a:ext cx="108200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C2B27"/>
                </a:solidFill>
                <a:latin typeface="Segoe UI"/>
              </a:rPr>
              <a:t>The tradition works. The bookkeeping doesn't.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16736"/>
            <a:ext cx="8778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5C7268"/>
                </a:solidFill>
                <a:latin typeface="Segoe UI"/>
              </a:rPr>
              <a:t>Ten traders each contribute ₦5,000 a week; each week the ₦50,000 pot goes to one member until everyone has taken a turn. It is one of West Africa's most widely used savings instruments — and it runs on paper.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121408"/>
            <a:ext cx="2587752" cy="239572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4EFE9"/>
            </a:solidFill>
          </a:ln>
          <a:effectLst>
            <a:outerShdw blurRad="431800" dist="152400" dir="5400000" rotWithShape="0">
              <a:srgbClr val="14281E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14984" y="2450592"/>
            <a:ext cx="512064" cy="512064"/>
          </a:xfrm>
          <a:prstGeom prst="roundRect">
            <a:avLst>
              <a:gd name="adj" fmla="val 22000"/>
            </a:avLst>
          </a:prstGeom>
          <a:solidFill>
            <a:srgbClr val="0FA968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500" b="1">
                <a:solidFill>
                  <a:srgbClr val="0FA968"/>
                </a:solidFill>
                <a:latin typeface="Segoe U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4984" y="3145536"/>
            <a:ext cx="19293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1" i="0">
                <a:solidFill>
                  <a:srgbClr val="1C2B27"/>
                </a:solidFill>
                <a:latin typeface="Segoe UI"/>
              </a:rPr>
              <a:t>Fraud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4984" y="3529584"/>
            <a:ext cx="192938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5C7268"/>
                </a:solidFill>
                <a:latin typeface="Segoe UI"/>
              </a:rPr>
              <a:t>The collector disappears with the pot. There is no independent record to point to.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2121408"/>
            <a:ext cx="2587752" cy="239572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4EFE9"/>
            </a:solidFill>
          </a:ln>
          <a:effectLst>
            <a:outerShdw blurRad="431800" dist="152400" dir="5400000" rotWithShape="0">
              <a:srgbClr val="14281E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758184" y="2450592"/>
            <a:ext cx="512064" cy="512064"/>
          </a:xfrm>
          <a:prstGeom prst="roundRect">
            <a:avLst>
              <a:gd name="adj" fmla="val 22000"/>
            </a:avLst>
          </a:prstGeom>
          <a:solidFill>
            <a:srgbClr val="0FA968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500" b="1">
                <a:solidFill>
                  <a:srgbClr val="0FA968"/>
                </a:solidFill>
                <a:latin typeface="Segoe U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58184" y="3145536"/>
            <a:ext cx="19293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1" i="0">
                <a:solidFill>
                  <a:srgbClr val="1C2B27"/>
                </a:solidFill>
                <a:latin typeface="Segoe UI"/>
              </a:rPr>
              <a:t>Lost records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58184" y="3529584"/>
            <a:ext cx="192938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5C7268"/>
                </a:solidFill>
                <a:latin typeface="Segoe UI"/>
              </a:rPr>
              <a:t>The notebook is lost or the WhatsApp group is deleted; nobody can prove who paid.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2121408"/>
            <a:ext cx="2587752" cy="239572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4EFE9"/>
            </a:solidFill>
          </a:ln>
          <a:effectLst>
            <a:outerShdw blurRad="431800" dist="152400" dir="5400000" rotWithShape="0">
              <a:srgbClr val="14281E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501384" y="2450592"/>
            <a:ext cx="512064" cy="512064"/>
          </a:xfrm>
          <a:prstGeom prst="roundRect">
            <a:avLst>
              <a:gd name="adj" fmla="val 22000"/>
            </a:avLst>
          </a:prstGeom>
          <a:solidFill>
            <a:srgbClr val="0FA968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500" b="1">
                <a:solidFill>
                  <a:srgbClr val="0FA968"/>
                </a:solidFill>
                <a:latin typeface="Segoe U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01384" y="3145536"/>
            <a:ext cx="19293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1" i="0">
                <a:solidFill>
                  <a:srgbClr val="1C2B27"/>
                </a:solidFill>
                <a:latin typeface="Segoe UI"/>
              </a:rPr>
              <a:t>Disputes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01384" y="3529584"/>
            <a:ext cx="192938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5C7268"/>
                </a:solidFill>
                <a:latin typeface="Segoe UI"/>
              </a:rPr>
              <a:t>“I paid you last Tuesday.” “You didn't.” “Whose turn is it now?”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15400" y="2121408"/>
            <a:ext cx="2587752" cy="239572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4EFE9"/>
            </a:solidFill>
          </a:ln>
          <a:effectLst>
            <a:outerShdw blurRad="431800" dist="152400" dir="5400000" rotWithShape="0">
              <a:srgbClr val="14281E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244584" y="2450592"/>
            <a:ext cx="512064" cy="512064"/>
          </a:xfrm>
          <a:prstGeom prst="roundRect">
            <a:avLst>
              <a:gd name="adj" fmla="val 22000"/>
            </a:avLst>
          </a:prstGeom>
          <a:solidFill>
            <a:srgbClr val="0FA968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500" b="1">
                <a:solidFill>
                  <a:srgbClr val="0FA968"/>
                </a:solidFill>
                <a:latin typeface="Segoe UI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44584" y="3145536"/>
            <a:ext cx="19293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1" i="0">
                <a:solidFill>
                  <a:srgbClr val="1C2B27"/>
                </a:solidFill>
                <a:latin typeface="Segoe UI"/>
              </a:rPr>
              <a:t>No financial history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44584" y="3529584"/>
            <a:ext cx="192938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5C7268"/>
                </a:solidFill>
                <a:latin typeface="Segoe UI"/>
              </a:rPr>
              <a:t>Years of reliable payments produce zero credit signal a lender will accept.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828032"/>
            <a:ext cx="10820095" cy="1207008"/>
          </a:xfrm>
          <a:prstGeom prst="roundRect">
            <a:avLst>
              <a:gd name="adj" fmla="val 9000"/>
            </a:avLst>
          </a:prstGeom>
          <a:solidFill>
            <a:srgbClr val="07231B"/>
          </a:solidFill>
          <a:ln w="12700">
            <a:solidFill>
              <a:srgbClr val="07231B"/>
            </a:solidFill>
          </a:ln>
          <a:effectLst>
            <a:outerShdw blurRad="431800" dist="152400" dir="5400000" rotWithShape="0">
              <a:srgbClr val="14281E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88720" y="5138928"/>
            <a:ext cx="98142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FFFFFF"/>
                </a:solidFill>
                <a:latin typeface="Segoe UI"/>
              </a:rPr>
              <a:t>Four failure modes people live with today — all of them bookkeeping problems, none of them problems with the tradition itself.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629107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5C7268"/>
                </a:solidFill>
                <a:latin typeface="Segoe UI"/>
              </a:rPr>
              <a:t>CircleSafe  ·  Trustworthy Ajo. Every naira accounted for.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77095" y="629107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1" i="0">
                <a:solidFill>
                  <a:srgbClr val="5C7268"/>
                </a:solidFill>
                <a:latin typeface="Segoe UI"/>
              </a:rPr>
              <a:t>02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7548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 spc="140">
                <a:solidFill>
                  <a:srgbClr val="0FA968"/>
                </a:solidFill>
                <a:latin typeface="Segoe UI"/>
              </a:rP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86384"/>
            <a:ext cx="108200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C2B27"/>
                </a:solidFill>
                <a:latin typeface="Segoe UI"/>
              </a:rPr>
              <a:t>Keep the tradition. Replace the notebook.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16736"/>
            <a:ext cx="8778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5C7268"/>
                </a:solidFill>
                <a:latin typeface="Segoe UI"/>
              </a:rPr>
              <a:t>Six guarantees, each enforced by the data model rather than by policy.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084831"/>
            <a:ext cx="3502152" cy="181051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4EFE9"/>
            </a:solidFill>
          </a:ln>
          <a:effectLst>
            <a:outerShdw blurRad="431800" dist="152400" dir="5400000" rotWithShape="0">
              <a:srgbClr val="14281E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96696" y="2395727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0FA968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>
                <a:solidFill>
                  <a:srgbClr val="0FA968"/>
                </a:solidFill>
                <a:latin typeface="Segoe UI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2450591"/>
            <a:ext cx="227685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1C2B27"/>
                </a:solidFill>
                <a:latin typeface="Segoe UI"/>
              </a:rPr>
              <a:t>Append-only ledger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" y="2999231"/>
            <a:ext cx="2880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5C7268"/>
                </a:solidFill>
                <a:latin typeface="Segoe UI"/>
              </a:rPr>
              <a:t>Every action writes a row to _activity that is never updated or deleted. The audit trail is the data model.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1688" y="2084831"/>
            <a:ext cx="3502152" cy="181051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4EFE9"/>
            </a:solidFill>
          </a:ln>
          <a:effectLst>
            <a:outerShdw blurRad="431800" dist="152400" dir="5400000" rotWithShape="0">
              <a:srgbClr val="14281E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672584" y="2395727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0FA968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>
                <a:solidFill>
                  <a:srgbClr val="0FA968"/>
                </a:solidFill>
                <a:latin typeface="Segoe U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76088" y="2450591"/>
            <a:ext cx="227685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1C2B27"/>
                </a:solidFill>
                <a:latin typeface="Segoe UI"/>
              </a:rPr>
              <a:t>Two-party confirmation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72584" y="2999231"/>
            <a:ext cx="2880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5C7268"/>
                </a:solidFill>
                <a:latin typeface="Segoe UI"/>
              </a:rPr>
              <a:t>A member records a contribution; a treasurer or the owner confirms it. Neither side moves money in the record alone.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37576" y="2084831"/>
            <a:ext cx="3502152" cy="181051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4EFE9"/>
            </a:solidFill>
          </a:ln>
          <a:effectLst>
            <a:outerShdw blurRad="431800" dist="152400" dir="5400000" rotWithShape="0">
              <a:srgbClr val="14281E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348472" y="2395727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0FA968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>
                <a:solidFill>
                  <a:srgbClr val="0FA968"/>
                </a:solidFill>
                <a:latin typeface="Segoe U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51976" y="2450591"/>
            <a:ext cx="227685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1C2B27"/>
                </a:solidFill>
                <a:latin typeface="Segoe UI"/>
              </a:rPr>
              <a:t>Rules locked before the money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48472" y="2999231"/>
            <a:ext cx="2880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5C7268"/>
                </a:solidFill>
                <a:latin typeface="Segoe UI"/>
              </a:rPr>
              <a:t>Amount, rhythm, grace period, late fee and payout order freeze the moment a circle goes ACTIVE — enforced in SQL.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078223"/>
            <a:ext cx="3502152" cy="181051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4EFE9"/>
            </a:solidFill>
          </a:ln>
          <a:effectLst>
            <a:outerShdw blurRad="431800" dist="152400" dir="5400000" rotWithShape="0">
              <a:srgbClr val="14281E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96696" y="4389119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0FA968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>
                <a:solidFill>
                  <a:srgbClr val="0FA968"/>
                </a:solidFill>
                <a:latin typeface="Segoe UI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00200" y="4443983"/>
            <a:ext cx="227685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1C2B27"/>
                </a:solidFill>
                <a:latin typeface="Segoe UI"/>
              </a:rPr>
              <a:t>Trust Score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6696" y="4992623"/>
            <a:ext cx="2880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5C7268"/>
                </a:solidFill>
                <a:latin typeface="Segoe UI"/>
              </a:rPr>
              <a:t>Confirmed contributions ÷ cycles elapsed, computed live from the ledger. The portable credit history the tradition never produced.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61688" y="4078223"/>
            <a:ext cx="3502152" cy="181051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4EFE9"/>
            </a:solidFill>
          </a:ln>
          <a:effectLst>
            <a:outerShdw blurRad="431800" dist="152400" dir="5400000" rotWithShape="0">
              <a:srgbClr val="14281E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672584" y="4389119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0FA968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>
                <a:solidFill>
                  <a:srgbClr val="0FA968"/>
                </a:solidFill>
                <a:latin typeface="Segoe UI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76088" y="4443983"/>
            <a:ext cx="227685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1C2B27"/>
                </a:solidFill>
                <a:latin typeface="Segoe UI"/>
              </a:rPr>
              <a:t>Circle Health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72584" y="4992623"/>
            <a:ext cx="2880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5C7268"/>
                </a:solidFill>
                <a:latin typeface="Segoe UI"/>
              </a:rPr>
              <a:t>One number for whether a circle is actually collecting what it is owed, so trouble is visible before it compounds.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37576" y="4078223"/>
            <a:ext cx="3502152" cy="181051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4EFE9"/>
            </a:solidFill>
          </a:ln>
          <a:effectLst>
            <a:outerShdw blurRad="431800" dist="152400" dir="5400000" rotWithShape="0">
              <a:srgbClr val="14281E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348472" y="4389119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0FA968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>
                <a:solidFill>
                  <a:srgbClr val="0FA968"/>
                </a:solidFill>
                <a:latin typeface="Segoe UI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51976" y="4443983"/>
            <a:ext cx="227685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1C2B27"/>
                </a:solidFill>
                <a:latin typeface="Segoe UI"/>
              </a:rPr>
              <a:t>Live dashboard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48472" y="4992623"/>
            <a:ext cx="2880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5C7268"/>
                </a:solidFill>
                <a:latin typeface="Segoe UI"/>
              </a:rPr>
              <a:t>Every mutation broadcasts — SSE self-hosted, WebSocket on Sub0 — so all members see the same numbers at the same time.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629107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5C7268"/>
                </a:solidFill>
                <a:latin typeface="Segoe UI"/>
              </a:rPr>
              <a:t>CircleSafe  ·  Trustworthy Ajo. Every naira accounted for.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77095" y="629107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1" i="0">
                <a:solidFill>
                  <a:srgbClr val="5C7268"/>
                </a:solidFill>
                <a:latin typeface="Segoe UI"/>
              </a:rPr>
              <a:t>03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23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595360" y="-2194560"/>
            <a:ext cx="5486400" cy="5486400"/>
          </a:xfrm>
          <a:prstGeom prst="ellipse">
            <a:avLst/>
          </a:prstGeom>
          <a:solidFill>
            <a:srgbClr val="0FA968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7548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 spc="140">
                <a:solidFill>
                  <a:srgbClr val="34E0A1"/>
                </a:solidFill>
                <a:latin typeface="Segoe UI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86384"/>
            <a:ext cx="108200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FFFFFF"/>
                </a:solidFill>
                <a:latin typeface="Segoe UI"/>
              </a:rPr>
              <a:t>One contract, three runtimes.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16736"/>
            <a:ext cx="8778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9FB8AD"/>
                </a:solidFill>
                <a:latin typeface="Segoe UI"/>
              </a:rPr>
              <a:t>The browser POSTs to a resource; the runtime validates the payload, verifies the JWT, rate-limits by IP, runs chained SQL actionables, writes the audit row and broadcasts.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212848"/>
            <a:ext cx="3200400" cy="2286000"/>
          </a:xfrm>
          <a:prstGeom prst="roundRect">
            <a:avLst>
              <a:gd name="adj" fmla="val 9000"/>
            </a:avLst>
          </a:prstGeom>
          <a:solidFill>
            <a:srgbClr val="0C3025"/>
          </a:solidFill>
          <a:ln w="12700">
            <a:solidFill>
              <a:srgbClr val="1751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96696" y="2487168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 i="0" spc="120">
                <a:solidFill>
                  <a:srgbClr val="34E0A1"/>
                </a:solidFill>
                <a:latin typeface="Segoe UI"/>
              </a:rPr>
              <a:t>BROWSER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" y="2816352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Segoe UI"/>
              </a:rPr>
              <a:t>Next.js 16 · App Router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" y="3236976"/>
            <a:ext cx="26517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050" b="0" i="0">
                <a:solidFill>
                  <a:srgbClr val="9FB8AD"/>
                </a:solidFill>
                <a:latin typeface="Segoe UI"/>
              </a:rPr>
              <a:t>React 19 · TypeScript · Tailwind
Recharts · dnd-kit · framer-motion
ogl WebGL hero · lucide-react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995928" y="2871216"/>
            <a:ext cx="1298448" cy="182880"/>
          </a:xfrm>
          <a:prstGeom prst="rightArrow">
            <a:avLst/>
          </a:prstGeom>
          <a:solidFill>
            <a:srgbClr val="34E0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04488" y="2596896"/>
            <a:ext cx="1554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800" b="0" i="0">
                <a:solidFill>
                  <a:srgbClr val="9FB8AD"/>
                </a:solidFill>
                <a:latin typeface="Consolas"/>
              </a:rPr>
              <a:t>POST /resource  ·  Bearer JWT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995928" y="3602736"/>
            <a:ext cx="1298448" cy="182880"/>
          </a:xfrm>
          <a:prstGeom prst="rightArrow">
            <a:avLst/>
          </a:prstGeom>
          <a:solidFill>
            <a:srgbClr val="F5B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04488" y="3328416"/>
            <a:ext cx="1554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800" b="0" i="0">
                <a:solidFill>
                  <a:srgbClr val="9FB8AD"/>
                </a:solidFill>
                <a:latin typeface="Consolas"/>
              </a:rPr>
              <a:t>wss /ws  ·  circle_update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532120" y="2212848"/>
            <a:ext cx="5971032" cy="2286000"/>
          </a:xfrm>
          <a:prstGeom prst="roundRect">
            <a:avLst>
              <a:gd name="adj" fmla="val 9000"/>
            </a:avLst>
          </a:prstGeom>
          <a:solidFill>
            <a:srgbClr val="0C3025"/>
          </a:solidFill>
          <a:ln w="12700">
            <a:solidFill>
              <a:srgbClr val="1751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43016" y="2487168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 i="0" spc="120">
                <a:solidFill>
                  <a:srgbClr val="34E0A1"/>
                </a:solidFill>
                <a:latin typeface="Segoe UI"/>
              </a:rPr>
              <a:t>LINGOQL  ·  MANAGED PLATFORM + TLS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843016" y="2852928"/>
            <a:ext cx="2743200" cy="1371600"/>
          </a:xfrm>
          <a:prstGeom prst="roundRect">
            <a:avLst>
              <a:gd name="adj" fmla="val 9000"/>
            </a:avLst>
          </a:prstGeom>
          <a:solidFill>
            <a:srgbClr val="103C2E"/>
          </a:solidFill>
          <a:ln w="12700">
            <a:solidFill>
              <a:srgbClr val="1E63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44184" y="3054096"/>
            <a:ext cx="23774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</a:rPr>
              <a:t>Sub0</a:t>
            </a:r>
          </a:p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9FB8AD"/>
                </a:solidFill>
                <a:latin typeface="Segoe UI"/>
              </a:rPr>
              <a:t>Declarative JSON models
+ ABI endpoints.
No hand-written server code.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750808" y="2852928"/>
            <a:ext cx="2441448" cy="1371600"/>
          </a:xfrm>
          <a:prstGeom prst="roundRect">
            <a:avLst>
              <a:gd name="adj" fmla="val 9000"/>
            </a:avLst>
          </a:prstGeom>
          <a:solidFill>
            <a:srgbClr val="103C2E"/>
          </a:solidFill>
          <a:ln w="12700">
            <a:solidFill>
              <a:srgbClr val="1E63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51976" y="3054096"/>
            <a:ext cx="21031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</a:rPr>
              <a:t>PostgreSQL</a:t>
            </a:r>
          </a:p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9FB8AD"/>
                </a:solidFill>
                <a:latin typeface="Segoe UI"/>
              </a:rPr>
              <a:t>11 tables.
Every query parameterized.
_activity is INSERT-only.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8604504" y="3447288"/>
            <a:ext cx="146304" cy="182880"/>
          </a:xfrm>
          <a:prstGeom prst="rightArrow">
            <a:avLst/>
          </a:prstGeom>
          <a:solidFill>
            <a:srgbClr val="34E0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85800" y="4773168"/>
            <a:ext cx="3502152" cy="1170432"/>
          </a:xfrm>
          <a:prstGeom prst="roundRect">
            <a:avLst>
              <a:gd name="adj" fmla="val 9000"/>
            </a:avLst>
          </a:prstGeom>
          <a:solidFill>
            <a:srgbClr val="0C3025"/>
          </a:solidFill>
          <a:ln w="12700">
            <a:solidFill>
              <a:srgbClr val="1751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4974336"/>
            <a:ext cx="29535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F5B301"/>
                </a:solidFill>
                <a:latin typeface="Consolas"/>
              </a:rPr>
              <a:t>mock  —  Default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5285232"/>
            <a:ext cx="295351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950" b="0" i="0">
                <a:solidFill>
                  <a:srgbClr val="9FB8AD"/>
                </a:solidFill>
                <a:latin typeface="Segoe UI"/>
              </a:rPr>
              <a:t>In-memory fake of every resource. Clickable with no backend. Header badge reads Demo.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61688" y="4773168"/>
            <a:ext cx="3502152" cy="1170432"/>
          </a:xfrm>
          <a:prstGeom prst="roundRect">
            <a:avLst>
              <a:gd name="adj" fmla="val 9000"/>
            </a:avLst>
          </a:prstGeom>
          <a:solidFill>
            <a:srgbClr val="0C3025"/>
          </a:solidFill>
          <a:ln w="12700">
            <a:solidFill>
              <a:srgbClr val="1751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36008" y="4974336"/>
            <a:ext cx="29535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F5B301"/>
                </a:solidFill>
                <a:latin typeface="Consolas"/>
              </a:rPr>
              <a:t>local  —  Self-hosted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36008" y="5285232"/>
            <a:ext cx="295351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950" b="0" i="0">
                <a:solidFill>
                  <a:srgbClr val="9FB8AD"/>
                </a:solidFill>
                <a:latin typeface="Segoe UI"/>
              </a:rPr>
              <a:t>Next.js route handlers + pg + bcryptjs + jsonwebtoken over any PostgreSQL.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37576" y="4773168"/>
            <a:ext cx="3502152" cy="1170432"/>
          </a:xfrm>
          <a:prstGeom prst="roundRect">
            <a:avLst>
              <a:gd name="adj" fmla="val 9000"/>
            </a:avLst>
          </a:prstGeom>
          <a:solidFill>
            <a:srgbClr val="0C3025"/>
          </a:solidFill>
          <a:ln w="12700">
            <a:solidFill>
              <a:srgbClr val="1751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11896" y="4974336"/>
            <a:ext cx="29535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F5B301"/>
                </a:solidFill>
                <a:latin typeface="Consolas"/>
              </a:rPr>
              <a:t>sub0  —  Canonical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11896" y="5285232"/>
            <a:ext cx="295351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950" b="0" i="0">
                <a:solidFill>
                  <a:srgbClr val="9FB8AD"/>
                </a:solidFill>
                <a:latin typeface="Segoe UI"/>
              </a:rPr>
              <a:t>The declarative design in backend/ — 6 models, 23 ABI endpoints.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4553712"/>
            <a:ext cx="10820095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1">
                <a:solidFill>
                  <a:srgbClr val="6C8A7D"/>
                </a:solidFill>
                <a:latin typeface="Segoe UI"/>
              </a:rPr>
              <a:t>One client seam — frontend/lib/api.ts — switches all three on two environment variables.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629107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6C8A7D"/>
                </a:solidFill>
                <a:latin typeface="Segoe UI"/>
              </a:rPr>
              <a:t>CircleSafe  ·  Trustworthy Ajo. Every naira accounted for.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77095" y="629107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1" i="0">
                <a:solidFill>
                  <a:srgbClr val="6C8A7D"/>
                </a:solidFill>
                <a:latin typeface="Segoe UI"/>
              </a:rPr>
              <a:t>04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7548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 spc="140">
                <a:solidFill>
                  <a:srgbClr val="0FA968"/>
                </a:solidFill>
                <a:latin typeface="Segoe UI"/>
              </a:rPr>
              <a:t>DATA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86384"/>
            <a:ext cx="108200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C2B27"/>
                </a:solidFill>
                <a:latin typeface="Segoe UI"/>
              </a:rPr>
              <a:t>Six core tables. Nothing to falsify.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16736"/>
            <a:ext cx="8778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5C7268"/>
                </a:solidFill>
                <a:latin typeface="Segoe UI"/>
              </a:rPr>
              <a:t>Trust Score, Circle Health and Insights are computed, not stored — cached aggregation queries over _contributions and _memberships. Nothing to drift.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066543"/>
            <a:ext cx="10820095" cy="384048"/>
          </a:xfrm>
          <a:prstGeom prst="roundRect">
            <a:avLst>
              <a:gd name="adj" fmla="val 28000"/>
            </a:avLst>
          </a:prstGeom>
          <a:solidFill>
            <a:srgbClr val="0723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6" y="2167127"/>
            <a:ext cx="21945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1" i="0" spc="120">
                <a:solidFill>
                  <a:srgbClr val="34E0A1"/>
                </a:solidFill>
                <a:latin typeface="Segoe UI"/>
              </a:rPr>
              <a:t>TABLE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37560" y="2167127"/>
            <a:ext cx="21945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1" i="0" spc="120">
                <a:solidFill>
                  <a:srgbClr val="34E0A1"/>
                </a:solidFill>
                <a:latin typeface="Segoe UI"/>
              </a:rPr>
              <a:t>PURPOSE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0" y="2167127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1" i="0" spc="120">
                <a:solidFill>
                  <a:srgbClr val="34E0A1"/>
                </a:solidFill>
                <a:latin typeface="Segoe UI"/>
              </a:rPr>
              <a:t>NOTES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42031"/>
            <a:ext cx="10820095" cy="4572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96696" y="2651759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0B8452"/>
                </a:solidFill>
                <a:latin typeface="Consolas"/>
              </a:rPr>
              <a:t>_users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2660903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1C2B27"/>
                </a:solidFill>
                <a:latin typeface="Segoe UI"/>
              </a:rPr>
              <a:t>Accounts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0" y="2670047"/>
            <a:ext cx="5577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5C7268"/>
                </a:solidFill>
                <a:latin typeface="Segoe UI"/>
              </a:rPr>
              <a:t>email unique + indexable; password BCRYPT-hashed, never returned; Google Sign-In supported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163823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0B8452"/>
                </a:solidFill>
                <a:latin typeface="Consolas"/>
              </a:rPr>
              <a:t>_circles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37560" y="3172967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1C2B27"/>
                </a:solidFill>
                <a:latin typeface="Segoe UI"/>
              </a:rPr>
              <a:t>The savings group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5000" y="3182111"/>
            <a:ext cx="5577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5C7268"/>
                </a:solidFill>
                <a:latin typeface="Segoe UI"/>
              </a:rPr>
              <a:t>status PENDING → ACTIVE → COMPLETED; current_cycle; rules as a JSON object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566159"/>
            <a:ext cx="10820095" cy="4572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6696" y="3675887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0B8452"/>
                </a:solidFill>
                <a:latin typeface="Consolas"/>
              </a:rPr>
              <a:t>_memberships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37560" y="3685031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1C2B27"/>
                </a:solidFill>
                <a:latin typeface="Segoe UI"/>
              </a:rPr>
              <a:t>Who is in a circle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15000" y="3694175"/>
            <a:ext cx="5577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5C7268"/>
                </a:solidFill>
                <a:latin typeface="Segoe UI"/>
              </a:rPr>
              <a:t>role OWNER / TREASURER / MEMBER; payout_position; status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6696" y="4187951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0B8452"/>
                </a:solidFill>
                <a:latin typeface="Consolas"/>
              </a:rPr>
              <a:t>_contributions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37560" y="4197095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1C2B27"/>
                </a:solidFill>
                <a:latin typeface="Segoe UI"/>
              </a:rPr>
              <a:t>Money 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15000" y="4206239"/>
            <a:ext cx="5577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5C7268"/>
                </a:solidFill>
                <a:latin typeface="Segoe UI"/>
              </a:rPr>
              <a:t>cycle; amount as NUMERIC (exact decimal); status PENDING / CONFIRMED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590287"/>
            <a:ext cx="10820095" cy="4572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96696" y="4700015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0B8452"/>
                </a:solidFill>
                <a:latin typeface="Consolas"/>
              </a:rPr>
              <a:t>_payouts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37560" y="4709159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1C2B27"/>
                </a:solidFill>
                <a:latin typeface="Segoe UI"/>
              </a:rPr>
              <a:t>Money out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15000" y="4718303"/>
            <a:ext cx="5577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5C7268"/>
                </a:solidFill>
                <a:latin typeface="Segoe UI"/>
              </a:rPr>
              <a:t>cycle; recipient_id; status SCHEDULED / PAID / RECEIVED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6696" y="5212079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0B8452"/>
                </a:solidFill>
                <a:latin typeface="Consolas"/>
              </a:rPr>
              <a:t>_activity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37560" y="5221223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1C2B27"/>
                </a:solidFill>
                <a:latin typeface="Segoe UI"/>
              </a:rPr>
              <a:t>Append-only audit log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15000" y="5230367"/>
            <a:ext cx="5577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5C7268"/>
                </a:solidFill>
                <a:latin typeface="Segoe UI"/>
              </a:rPr>
              <a:t>INSERT only — never UPDATE, never DELETE, by construction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" y="5541264"/>
            <a:ext cx="10820095" cy="65836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4EFE9"/>
            </a:solidFill>
          </a:ln>
          <a:effectLst>
            <a:outerShdw blurRad="431800" dist="152400" dir="5400000" rotWithShape="0">
              <a:srgbClr val="14281E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1560" y="5705856"/>
            <a:ext cx="100885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5C7268"/>
                </a:solidFill>
                <a:latin typeface="Segoe UI"/>
              </a:rPr>
              <a:t>The running app adds five more tables — _invitations, _join_requests, _email_tokens, _emails, _revoked_tokens — for the invitation lifecycle, join requests and JWT revocation.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629107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5C7268"/>
                </a:solidFill>
                <a:latin typeface="Segoe UI"/>
              </a:rPr>
              <a:t>CircleSafe  ·  Trustworthy Ajo. Every naira accounted for.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77095" y="629107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1" i="0">
                <a:solidFill>
                  <a:srgbClr val="5C7268"/>
                </a:solidFill>
                <a:latin typeface="Segoe UI"/>
              </a:rPr>
              <a:t>05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23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286000" y="4480560"/>
            <a:ext cx="4937760" cy="4937760"/>
          </a:xfrm>
          <a:prstGeom prst="ellipse">
            <a:avLst/>
          </a:prstGeom>
          <a:solidFill>
            <a:srgbClr val="0FA968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7548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 spc="140">
                <a:solidFill>
                  <a:srgbClr val="34E0A1"/>
                </a:solidFill>
                <a:latin typeface="Segoe UI"/>
              </a:rPr>
              <a:t>TECHNICAL 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86384"/>
            <a:ext cx="108200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FFFFFF"/>
                </a:solidFill>
                <a:latin typeface="Segoe UI"/>
              </a:rPr>
              <a:t>How CircleSafe uses Sub0.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16736"/>
            <a:ext cx="8778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9FB8AD"/>
                </a:solidFill>
                <a:latin typeface="Segoe UI"/>
              </a:rPr>
              <a:t>Sub0 is declarative: you define models and endpoints as JSON and the platform is the backend. Everything below is a platform primitive, not application code we wrote.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03120"/>
            <a:ext cx="532180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34E0A1"/>
                </a:solidFill>
                <a:latin typeface="Consolas"/>
              </a:rPr>
              <a:t>hashables / verify_hashables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350008"/>
            <a:ext cx="5321808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 i="0">
                <a:solidFill>
                  <a:srgbClr val="9FB8AD"/>
                </a:solidFill>
                <a:latin typeface="Segoe UI"/>
              </a:rPr>
              <a:t>BCRYPT on sign-up, verified on sign-in. Passwords never appear in any returnables.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1344" y="2103120"/>
            <a:ext cx="532180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34E0A1"/>
                </a:solidFill>
                <a:latin typeface="Consolas"/>
              </a:rPr>
              <a:t>tokenize / invalidate_tokenize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81344" y="2350008"/>
            <a:ext cx="5321808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 i="0">
                <a:solidFill>
                  <a:srgbClr val="9FB8AD"/>
                </a:solidFill>
                <a:latin typeface="Segoe UI"/>
              </a:rPr>
              <a:t>JWT HS256 signed from $ENV.JWT_SECRET_KEY; logout revokes the presented token.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825496"/>
            <a:ext cx="532180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34E0A1"/>
                </a:solidFill>
                <a:latin typeface="Consolas"/>
              </a:rPr>
              <a:t>protected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072384"/>
            <a:ext cx="5321808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 i="0">
                <a:solidFill>
                  <a:srgbClr val="9FB8AD"/>
                </a:solidFill>
                <a:latin typeface="Segoe UI"/>
              </a:rPr>
              <a:t>Every non-public endpoint. Ownership always comes from $PROTECTED.id, never from the payload.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81344" y="2825496"/>
            <a:ext cx="532180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34E0A1"/>
                </a:solidFill>
                <a:latin typeface="Consolas"/>
              </a:rPr>
              <a:t>payload_validation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81344" y="3072384"/>
            <a:ext cx="5321808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 i="0">
                <a:solidFill>
                  <a:srgbClr val="9FB8AD"/>
                </a:solidFill>
                <a:latin typeface="Segoe UI"/>
              </a:rPr>
              <a:t>Types and length bounds on every endpoint that accepts input — EMAIL, STRING, NUMBER.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547872"/>
            <a:ext cx="532180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34E0A1"/>
                </a:solidFill>
                <a:latin typeface="Consolas"/>
              </a:rPr>
              <a:t>rate_limit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794760"/>
            <a:ext cx="5321808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 i="0">
                <a:solidFill>
                  <a:srgbClr val="9FB8AD"/>
                </a:solidFill>
                <a:latin typeface="Segoe UI"/>
              </a:rPr>
              <a:t>Auth, create-circle, invite-member and record-contribution, keyed on $HEADER.ip.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81344" y="3547872"/>
            <a:ext cx="532180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34E0A1"/>
                </a:solidFill>
                <a:latin typeface="Consolas"/>
              </a:rPr>
              <a:t>depends_on (action chaining)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81344" y="3794760"/>
            <a:ext cx="5321808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 i="0">
                <a:solidFill>
                  <a:srgbClr val="9FB8AD"/>
                </a:solidFill>
                <a:latin typeface="Segoe UI"/>
              </a:rPr>
              <a:t>create-circle → owner membership → audit row; record-payout computes the pot, pays, advances the cycle.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270248"/>
            <a:ext cx="532180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34E0A1"/>
                </a:solidFill>
                <a:latin typeface="Consolas"/>
              </a:rPr>
              <a:t>read_from_cache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517136"/>
            <a:ext cx="5321808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 i="0">
                <a:solidFill>
                  <a:srgbClr val="9FB8AD"/>
                </a:solidFill>
                <a:latin typeface="Segoe UI"/>
              </a:rPr>
              <a:t>60s on trust score, circle health and insights. get-dashboard is deliberately uncached.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81344" y="4270248"/>
            <a:ext cx="532180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34E0A1"/>
                </a:solidFill>
                <a:latin typeface="Consolas"/>
              </a:rPr>
              <a:t>broadcast_websocket_message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81344" y="4517136"/>
            <a:ext cx="5321808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 i="0">
                <a:solidFill>
                  <a:srgbClr val="9FB8AD"/>
                </a:solidFill>
                <a:latin typeface="Segoe UI"/>
              </a:rPr>
              <a:t>Fires on all six lifecycle mutations, from start-circle to confirm-payout-received.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4992624"/>
            <a:ext cx="532180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34E0A1"/>
                </a:solidFill>
                <a:latin typeface="Consolas"/>
              </a:rPr>
              <a:t>$GENERATOR.KSUID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5239512"/>
            <a:ext cx="5321808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 i="0">
                <a:solidFill>
                  <a:srgbClr val="9FB8AD"/>
                </a:solidFill>
                <a:latin typeface="Segoe UI"/>
              </a:rPr>
              <a:t>Every primary key — sortable, collision-resistant, no sequence to leak.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81344" y="4992624"/>
            <a:ext cx="532180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34E0A1"/>
                </a:solidFill>
                <a:latin typeface="Consolas"/>
              </a:rPr>
              <a:t>Models &amp; injection prevention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81344" y="5239512"/>
            <a:ext cx="5321808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 i="0">
                <a:solidFill>
                  <a:srgbClr val="9FB8AD"/>
                </a:solidFill>
                <a:latin typeface="Segoe UI"/>
              </a:rPr>
              <a:t>JSON_OBJECT, foreign_key, indexable; every query parameterized before execution.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" y="5779008"/>
            <a:ext cx="10820095" cy="12700"/>
          </a:xfrm>
          <a:prstGeom prst="rect">
            <a:avLst/>
          </a:prstGeom>
          <a:solidFill>
            <a:srgbClr val="1439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5989320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C8A7D"/>
                </a:solidFill>
                <a:latin typeface="Segoe UI"/>
              </a:rPr>
              <a:t>23 endpoints across Auth · Circles · Members · Contributions · Payouts · Dashboard · Scores · Activity  —  the running app extends the same contract to 39 resources.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629107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6C8A7D"/>
                </a:solidFill>
                <a:latin typeface="Segoe UI"/>
              </a:rPr>
              <a:t>CircleSafe  ·  Trustworthy Ajo. Every naira accounted for.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77095" y="629107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1" i="0">
                <a:solidFill>
                  <a:srgbClr val="6C8A7D"/>
                </a:solidFill>
                <a:latin typeface="Segoe UI"/>
              </a:rPr>
              <a:t>06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7548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 spc="140">
                <a:solidFill>
                  <a:srgbClr val="0FA968"/>
                </a:solidFill>
                <a:latin typeface="Segoe UI"/>
              </a:rPr>
              <a:t>THE CORE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86384"/>
            <a:ext cx="108200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C2B27"/>
                </a:solidFill>
                <a:latin typeface="Segoe UI"/>
              </a:rPr>
              <a:t>No single person can move money in the record.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16736"/>
            <a:ext cx="8778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5C7268"/>
                </a:solidFill>
                <a:latin typeface="Segoe UI"/>
              </a:rPr>
              <a:t>The contribution lifecycle, end to end. Each step writes to the audit log and broadcasts to every member of the circle.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157984"/>
            <a:ext cx="2587752" cy="2286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4EFE9"/>
            </a:solidFill>
          </a:ln>
          <a:effectLst>
            <a:outerShdw blurRad="431800" dist="152400" dir="5400000" rotWithShape="0">
              <a:srgbClr val="14281E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96696" y="246888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0FA9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63624" y="2587752"/>
            <a:ext cx="139903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1" i="0" spc="100">
                <a:solidFill>
                  <a:srgbClr val="5C7268"/>
                </a:solidFill>
                <a:latin typeface="Segoe UI"/>
              </a:rPr>
              <a:t>MEMBER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" y="3090672"/>
            <a:ext cx="1965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0B8452"/>
                </a:solidFill>
                <a:latin typeface="Consolas"/>
              </a:rPr>
              <a:t>record-contribution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" y="3456432"/>
            <a:ext cx="1965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00" b="0" i="0">
                <a:solidFill>
                  <a:srgbClr val="5C7268"/>
                </a:solidFill>
                <a:latin typeface="Segoe UI"/>
              </a:rPr>
              <a:t>Writes to _contributions as PENDING, appends to _activity, broadcasts.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287268" y="3218688"/>
            <a:ext cx="128016" cy="164592"/>
          </a:xfrm>
          <a:prstGeom prst="rightArrow">
            <a:avLst/>
          </a:prstGeom>
          <a:solidFill>
            <a:srgbClr val="34E0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429000" y="2157984"/>
            <a:ext cx="2587752" cy="2286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4EFE9"/>
            </a:solidFill>
          </a:ln>
          <a:effectLst>
            <a:outerShdw blurRad="431800" dist="152400" dir="5400000" rotWithShape="0">
              <a:srgbClr val="14281E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739896" y="246888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0FA9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6824" y="2587752"/>
            <a:ext cx="139903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1" i="0" spc="100">
                <a:solidFill>
                  <a:srgbClr val="5C7268"/>
                </a:solidFill>
                <a:latin typeface="Segoe UI"/>
              </a:rPr>
              <a:t>TREASURER / OWNER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39896" y="3090672"/>
            <a:ext cx="1965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0B8452"/>
                </a:solidFill>
                <a:latin typeface="Consolas"/>
              </a:rPr>
              <a:t>confirm-contribution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39896" y="3456432"/>
            <a:ext cx="1965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00" b="0" i="0">
                <a:solidFill>
                  <a:srgbClr val="5C7268"/>
                </a:solidFill>
                <a:latin typeface="Segoe UI"/>
              </a:rPr>
              <a:t>Flips the row to CONFIRMED. RBAC checked in SQL, not in the UI.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6030468" y="3218688"/>
            <a:ext cx="128016" cy="164592"/>
          </a:xfrm>
          <a:prstGeom prst="rightArrow">
            <a:avLst/>
          </a:prstGeom>
          <a:solidFill>
            <a:srgbClr val="34E0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72200" y="2157984"/>
            <a:ext cx="2587752" cy="2286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4EFE9"/>
            </a:solidFill>
          </a:ln>
          <a:effectLst>
            <a:outerShdw blurRad="431800" dist="152400" dir="5400000" rotWithShape="0">
              <a:srgbClr val="14281E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83096" y="246888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0FA9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50024" y="2587752"/>
            <a:ext cx="139903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1" i="0" spc="100">
                <a:solidFill>
                  <a:srgbClr val="5C7268"/>
                </a:solidFill>
                <a:latin typeface="Segoe UI"/>
              </a:rPr>
              <a:t>OWNER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83096" y="3090672"/>
            <a:ext cx="1965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0B8452"/>
                </a:solidFill>
                <a:latin typeface="Consolas"/>
              </a:rPr>
              <a:t>record-payout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83096" y="3456432"/>
            <a:ext cx="1965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00" b="0" i="0">
                <a:solidFill>
                  <a:srgbClr val="5C7268"/>
                </a:solidFill>
                <a:latin typeface="Segoe UI"/>
              </a:rPr>
              <a:t>Sums CONFIRMED for the cycle, pays position N, advances current_cycle.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8773668" y="3218688"/>
            <a:ext cx="128016" cy="164592"/>
          </a:xfrm>
          <a:prstGeom prst="rightArrow">
            <a:avLst/>
          </a:prstGeom>
          <a:solidFill>
            <a:srgbClr val="34E0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915400" y="2157984"/>
            <a:ext cx="2587752" cy="2286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4EFE9"/>
            </a:solidFill>
          </a:ln>
          <a:effectLst>
            <a:outerShdw blurRad="431800" dist="152400" dir="5400000" rotWithShape="0">
              <a:srgbClr val="14281E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226296" y="246888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0FA9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93224" y="2587752"/>
            <a:ext cx="139903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1" i="0" spc="100">
                <a:solidFill>
                  <a:srgbClr val="5C7268"/>
                </a:solidFill>
                <a:latin typeface="Segoe UI"/>
              </a:rPr>
              <a:t>RECIPIENT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26296" y="3090672"/>
            <a:ext cx="1965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0B8452"/>
                </a:solidFill>
                <a:latin typeface="Consolas"/>
              </a:rPr>
              <a:t>confirm-payout-received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26296" y="3456432"/>
            <a:ext cx="1965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00" b="0" i="0">
                <a:solidFill>
                  <a:srgbClr val="5C7268"/>
                </a:solidFill>
                <a:latin typeface="Segoe UI"/>
              </a:rPr>
              <a:t>Closes the loop as RECEIVED. Circle COMPLETED after the last member.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800" y="4773168"/>
            <a:ext cx="10820095" cy="120700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4EFE9"/>
            </a:solidFill>
          </a:ln>
          <a:effectLst>
            <a:outerShdw blurRad="431800" dist="152400" dir="5400000" rotWithShape="0">
              <a:srgbClr val="14281E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4974336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1" i="0" spc="120">
                <a:solidFill>
                  <a:srgbClr val="5C7268"/>
                </a:solidFill>
                <a:latin typeface="Segoe UI"/>
              </a:rPr>
              <a:t>CIRCLE STATUS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143000" y="5303520"/>
            <a:ext cx="1280160" cy="329184"/>
          </a:xfrm>
          <a:prstGeom prst="roundRect">
            <a:avLst>
              <a:gd name="adj" fmla="val 50000"/>
            </a:avLst>
          </a:prstGeom>
          <a:solidFill>
            <a:srgbClr val="F5B301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0" bIns="0"/>
          <a:lstStyle/>
          <a:p>
            <a:pPr algn="ctr"/>
            <a:r>
              <a:rPr sz="950" b="1" spc="80">
                <a:solidFill>
                  <a:srgbClr val="F5B301"/>
                </a:solidFill>
                <a:latin typeface="Segoe UI"/>
              </a:rPr>
              <a:t>PENDING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2478024" y="5394960"/>
            <a:ext cx="146304" cy="146304"/>
          </a:xfrm>
          <a:prstGeom prst="rightArrow">
            <a:avLst/>
          </a:prstGeom>
          <a:solidFill>
            <a:srgbClr val="E4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2715768" y="5303520"/>
            <a:ext cx="1280160" cy="329184"/>
          </a:xfrm>
          <a:prstGeom prst="roundRect">
            <a:avLst>
              <a:gd name="adj" fmla="val 50000"/>
            </a:avLst>
          </a:prstGeom>
          <a:solidFill>
            <a:srgbClr val="0FA968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0" bIns="0"/>
          <a:lstStyle/>
          <a:p>
            <a:pPr algn="ctr"/>
            <a:r>
              <a:rPr sz="950" b="1" spc="80">
                <a:solidFill>
                  <a:srgbClr val="0FA968"/>
                </a:solidFill>
                <a:latin typeface="Segoe UI"/>
              </a:rPr>
              <a:t>ACTIVE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4050792" y="5394960"/>
            <a:ext cx="146304" cy="146304"/>
          </a:xfrm>
          <a:prstGeom prst="rightArrow">
            <a:avLst/>
          </a:prstGeom>
          <a:solidFill>
            <a:srgbClr val="E4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4288536" y="5303520"/>
            <a:ext cx="1280160" cy="329184"/>
          </a:xfrm>
          <a:prstGeom prst="roundRect">
            <a:avLst>
              <a:gd name="adj" fmla="val 50000"/>
            </a:avLst>
          </a:prstGeom>
          <a:solidFill>
            <a:srgbClr val="0B8452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0" bIns="0"/>
          <a:lstStyle/>
          <a:p>
            <a:pPr algn="ctr"/>
            <a:r>
              <a:rPr sz="950" b="1" spc="80">
                <a:solidFill>
                  <a:srgbClr val="0B8452"/>
                </a:solidFill>
                <a:latin typeface="Segoe UI"/>
              </a:rPr>
              <a:t>COMPLETED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72200" y="5029200"/>
            <a:ext cx="48463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5C7268"/>
                </a:solidFill>
                <a:latin typeface="Segoe UI"/>
              </a:rPr>
              <a:t>Rules and payout order are writable only while a circle is PENDING — enforced in the WHERE clause of the update itself. Once money moves, the terms are frozen.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" y="629107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5C7268"/>
                </a:solidFill>
                <a:latin typeface="Segoe UI"/>
              </a:rPr>
              <a:t>CircleSafe  ·  Trustworthy Ajo. Every naira accounted for.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77095" y="629107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1" i="0">
                <a:solidFill>
                  <a:srgbClr val="5C7268"/>
                </a:solidFill>
                <a:latin typeface="Segoe UI"/>
              </a:rPr>
              <a:t>07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7548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 spc="140">
                <a:solidFill>
                  <a:srgbClr val="0FA968"/>
                </a:solidFill>
                <a:latin typeface="Segoe UI"/>
              </a:rPr>
              <a:t>INNOVATION &amp; UTILITY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86384"/>
            <a:ext cx="108200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C2B27"/>
                </a:solidFill>
                <a:latin typeface="Segoe UI"/>
              </a:rPr>
              <a:t>What a notebook could never do.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16736"/>
            <a:ext cx="8778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5C7268"/>
                </a:solidFill>
                <a:latin typeface="Segoe UI"/>
              </a:rPr>
              <a:t>Four things that only exist because the ledger is complete, ordered and honest.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084831"/>
            <a:ext cx="5321808" cy="179222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4EFE9"/>
            </a:solidFill>
          </a:ln>
          <a:effectLst>
            <a:outerShdw blurRad="431800" dist="152400" dir="5400000" rotWithShape="0">
              <a:srgbClr val="14281E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2395727"/>
            <a:ext cx="54864" cy="1170432"/>
          </a:xfrm>
          <a:prstGeom prst="rect">
            <a:avLst/>
          </a:prstGeom>
          <a:solidFill>
            <a:srgbClr val="0FA9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9848" y="2377439"/>
            <a:ext cx="455371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1C2B27"/>
                </a:solidFill>
                <a:latin typeface="Segoe UI"/>
              </a:rPr>
              <a:t>Trust Score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" y="2743199"/>
            <a:ext cx="45537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1" i="0">
                <a:solidFill>
                  <a:srgbClr val="0B8452"/>
                </a:solidFill>
                <a:latin typeface="Segoe UI"/>
              </a:rPr>
              <a:t>Confirmed contributions ÷ cycles elapsed, per member, computed live.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3108959"/>
            <a:ext cx="455371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00" b="0" i="0">
                <a:solidFill>
                  <a:srgbClr val="5C7268"/>
                </a:solidFill>
                <a:latin typeface="Segoe UI"/>
              </a:rPr>
              <a:t>Years of reliable payments become a portable financial history a lender can read — the single biggest gap in informal savings today.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2084831"/>
            <a:ext cx="5321808" cy="179222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4EFE9"/>
            </a:solidFill>
          </a:ln>
          <a:effectLst>
            <a:outerShdw blurRad="431800" dist="152400" dir="5400000" rotWithShape="0">
              <a:srgbClr val="14281E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81344" y="2395727"/>
            <a:ext cx="54864" cy="1170432"/>
          </a:xfrm>
          <a:prstGeom prst="rect">
            <a:avLst/>
          </a:prstGeom>
          <a:solidFill>
            <a:srgbClr val="F5B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65392" y="2377439"/>
            <a:ext cx="455371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1C2B27"/>
                </a:solidFill>
                <a:latin typeface="Segoe UI"/>
              </a:rPr>
              <a:t>Circle Health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5392" y="2743199"/>
            <a:ext cx="45537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1" i="0">
                <a:solidFill>
                  <a:srgbClr val="0B8452"/>
                </a:solidFill>
                <a:latin typeface="Segoe UI"/>
              </a:rPr>
              <a:t>One number for whether a circle is collecting what it is owed.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65392" y="3108959"/>
            <a:ext cx="455371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00" b="0" i="0">
                <a:solidFill>
                  <a:srgbClr val="5C7268"/>
                </a:solidFill>
                <a:latin typeface="Segoe UI"/>
              </a:rPr>
              <a:t>Surfaces a circle drifting toward collapse while there is still time to act, instead of at the cycle where the pot comes up short.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4059935"/>
            <a:ext cx="5321808" cy="179222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4EFE9"/>
            </a:solidFill>
          </a:ln>
          <a:effectLst>
            <a:outerShdw blurRad="431800" dist="152400" dir="5400000" rotWithShape="0">
              <a:srgbClr val="14281E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85800" y="4370831"/>
            <a:ext cx="54864" cy="1170432"/>
          </a:xfrm>
          <a:prstGeom prst="rect">
            <a:avLst/>
          </a:prstGeom>
          <a:solidFill>
            <a:srgbClr val="0FA9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69848" y="4352543"/>
            <a:ext cx="455371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1C2B27"/>
                </a:solidFill>
                <a:latin typeface="Segoe UI"/>
              </a:rPr>
              <a:t>Visual Rules Builder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9848" y="4718303"/>
            <a:ext cx="45537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1" i="0">
                <a:solidFill>
                  <a:srgbClr val="0B8452"/>
                </a:solidFill>
                <a:latin typeface="Segoe UI"/>
              </a:rPr>
              <a:t>Drag members into payout order; set amount, rhythm, grace and late fee.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9848" y="5084063"/>
            <a:ext cx="455371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00" b="0" i="0">
                <a:solidFill>
                  <a:srgbClr val="5C7268"/>
                </a:solidFill>
                <a:latin typeface="Segoe UI"/>
              </a:rPr>
              <a:t>The most argued-about part of an Ajo becomes an explicit, agreed artifact — set once, frozen on start, visible to everyone.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81344" y="4059935"/>
            <a:ext cx="5321808" cy="179222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4EFE9"/>
            </a:solidFill>
          </a:ln>
          <a:effectLst>
            <a:outerShdw blurRad="431800" dist="152400" dir="5400000" rotWithShape="0">
              <a:srgbClr val="14281E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81344" y="4370831"/>
            <a:ext cx="54864" cy="1170432"/>
          </a:xfrm>
          <a:prstGeom prst="rect">
            <a:avLst/>
          </a:prstGeom>
          <a:solidFill>
            <a:srgbClr val="F5B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65392" y="4352543"/>
            <a:ext cx="455371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1C2B27"/>
                </a:solidFill>
                <a:latin typeface="Segoe UI"/>
              </a:rPr>
              <a:t>Live shared truth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65392" y="4718303"/>
            <a:ext cx="45537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1" i="0">
                <a:solidFill>
                  <a:srgbClr val="0B8452"/>
                </a:solidFill>
                <a:latin typeface="Segoe UI"/>
              </a:rPr>
              <a:t>Every mutation pushes to every member — SSE self-hosted, WebSocket on Sub0.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65392" y="5084063"/>
            <a:ext cx="455371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00" b="0" i="0">
                <a:solidFill>
                  <a:srgbClr val="5C7268"/>
                </a:solidFill>
                <a:latin typeface="Segoe UI"/>
              </a:rPr>
              <a:t>Disputes need a single source of truth. All members see the same pot, the same cycle and the same next recipient at the same moment.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629107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5C7268"/>
                </a:solidFill>
                <a:latin typeface="Segoe UI"/>
              </a:rPr>
              <a:t>CircleSafe  ·  Trustworthy Ajo. Every naira accounted for.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77095" y="629107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1" i="0">
                <a:solidFill>
                  <a:srgbClr val="5C7268"/>
                </a:solidFill>
                <a:latin typeface="Segoe UI"/>
              </a:rPr>
              <a:t>08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7548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 spc="140">
                <a:solidFill>
                  <a:srgbClr val="0FA968"/>
                </a:solidFill>
                <a:latin typeface="Segoe UI"/>
              </a:rPr>
              <a:t>THE APPLICATION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86384"/>
            <a:ext cx="108200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C2B27"/>
                </a:solidFill>
                <a:latin typeface="Segoe UI"/>
              </a:rPr>
              <a:t>Thirteen screens, one design language.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16736"/>
            <a:ext cx="8778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5C7268"/>
                </a:solidFill>
                <a:latin typeface="Segoe UI"/>
              </a:rPr>
              <a:t>Next.js App Router, grouped by access. Every screen is reachable in demo mode with no backend running.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103120"/>
            <a:ext cx="3502152" cy="30175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4EFE9"/>
            </a:solidFill>
          </a:ln>
          <a:effectLst>
            <a:outerShdw blurRad="431800" dist="152400" dir="5400000" rotWithShape="0">
              <a:srgbClr val="14281E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96696" y="2377440"/>
            <a:ext cx="1060704" cy="292608"/>
          </a:xfrm>
          <a:prstGeom prst="roundRect">
            <a:avLst>
              <a:gd name="adj" fmla="val 50000"/>
            </a:avLst>
          </a:prstGeom>
          <a:solidFill>
            <a:srgbClr val="0FA968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0" bIns="0"/>
          <a:lstStyle/>
          <a:p>
            <a:pPr algn="ctr"/>
            <a:r>
              <a:rPr sz="900" b="1" spc="100">
                <a:solidFill>
                  <a:srgbClr val="0FA968"/>
                </a:solidFill>
                <a:latin typeface="Segoe UI"/>
              </a:rPr>
              <a:t>PUBLIC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6" y="2852928"/>
            <a:ext cx="28803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1C2B27"/>
                </a:solidFill>
                <a:latin typeface="Consolas"/>
              </a:rPr>
              <a:t>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" y="3054096"/>
            <a:ext cx="2880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5C7268"/>
                </a:solidFill>
                <a:latin typeface="Segoe UI"/>
              </a:rPr>
              <a:t>Landing — hero, features, stats, FAQ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" y="3401568"/>
            <a:ext cx="28803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1C2B27"/>
                </a:solidFill>
                <a:latin typeface="Consolas"/>
              </a:rPr>
              <a:t>/login  ·  /register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" y="3602736"/>
            <a:ext cx="2880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5C7268"/>
                </a:solidFill>
                <a:latin typeface="Segoe UI"/>
              </a:rPr>
              <a:t>Email + password, or Google Sign-In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696" y="3950208"/>
            <a:ext cx="28803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1C2B27"/>
                </a:solidFill>
                <a:latin typeface="Consolas"/>
              </a:rPr>
              <a:t>/invite/[token]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6696" y="4151376"/>
            <a:ext cx="2880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5C7268"/>
                </a:solidFill>
                <a:latin typeface="Segoe UI"/>
              </a:rPr>
              <a:t>Accept an emailed invitation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61688" y="2103120"/>
            <a:ext cx="3502152" cy="30175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4EFE9"/>
            </a:solidFill>
          </a:ln>
          <a:effectLst>
            <a:outerShdw blurRad="431800" dist="152400" dir="5400000" rotWithShape="0">
              <a:srgbClr val="14281E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672584" y="2377440"/>
            <a:ext cx="1060704" cy="292608"/>
          </a:xfrm>
          <a:prstGeom prst="roundRect">
            <a:avLst>
              <a:gd name="adj" fmla="val 50000"/>
            </a:avLst>
          </a:prstGeom>
          <a:solidFill>
            <a:srgbClr val="0B8452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0" bIns="0"/>
          <a:lstStyle/>
          <a:p>
            <a:pPr algn="ctr"/>
            <a:r>
              <a:rPr sz="900" b="1" spc="100">
                <a:solidFill>
                  <a:srgbClr val="0B8452"/>
                </a:solidFill>
                <a:latin typeface="Segoe UI"/>
              </a:rPr>
              <a:t>MEMBER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72584" y="2852928"/>
            <a:ext cx="28803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1C2B27"/>
                </a:solidFill>
                <a:latin typeface="Consolas"/>
              </a:rPr>
              <a:t>/dashboard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72584" y="3054096"/>
            <a:ext cx="2880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5C7268"/>
                </a:solidFill>
                <a:latin typeface="Segoe UI"/>
              </a:rPr>
              <a:t>Every circle, pot totals, next payout, live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72584" y="3401568"/>
            <a:ext cx="28803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1C2B27"/>
                </a:solidFill>
                <a:latin typeface="Consolas"/>
              </a:rPr>
              <a:t>/circles/new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72584" y="3602736"/>
            <a:ext cx="2880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5C7268"/>
                </a:solidFill>
                <a:latin typeface="Segoe UI"/>
              </a:rPr>
              <a:t>Create a circle; the visual Rules Builder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72584" y="3950208"/>
            <a:ext cx="28803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1C2B27"/>
                </a:solidFill>
                <a:latin typeface="Consolas"/>
              </a:rPr>
              <a:t>/circles/[id]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72584" y="4151376"/>
            <a:ext cx="2880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5C7268"/>
                </a:solidFill>
                <a:latin typeface="Segoe UI"/>
              </a:rPr>
              <a:t>Ledger, members, contributions, payouts, activity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72584" y="4498848"/>
            <a:ext cx="28803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1C2B27"/>
                </a:solidFill>
                <a:latin typeface="Consolas"/>
              </a:rPr>
              <a:t>/circles/discover  ·  /requests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72584" y="4700016"/>
            <a:ext cx="2880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5C7268"/>
                </a:solidFill>
                <a:latin typeface="Segoe UI"/>
              </a:rPr>
              <a:t>Find public circles; manage join requests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37576" y="2103120"/>
            <a:ext cx="3502152" cy="30175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4EFE9"/>
            </a:solidFill>
          </a:ln>
          <a:effectLst>
            <a:outerShdw blurRad="431800" dist="152400" dir="5400000" rotWithShape="0">
              <a:srgbClr val="14281E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348472" y="2377440"/>
            <a:ext cx="1060704" cy="292608"/>
          </a:xfrm>
          <a:prstGeom prst="roundRect">
            <a:avLst>
              <a:gd name="adj" fmla="val 50000"/>
            </a:avLst>
          </a:prstGeom>
          <a:solidFill>
            <a:srgbClr val="D99A00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0" bIns="0"/>
          <a:lstStyle/>
          <a:p>
            <a:pPr algn="ctr"/>
            <a:r>
              <a:rPr sz="900" b="1" spc="100">
                <a:solidFill>
                  <a:srgbClr val="D99A00"/>
                </a:solidFill>
                <a:latin typeface="Segoe UI"/>
              </a:rPr>
              <a:t>ADMIN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48472" y="2852928"/>
            <a:ext cx="28803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1C2B27"/>
                </a:solidFill>
                <a:latin typeface="Consolas"/>
              </a:rPr>
              <a:t>/admin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48472" y="3054096"/>
            <a:ext cx="2880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5C7268"/>
                </a:solidFill>
                <a:latin typeface="Segoe UI"/>
              </a:rPr>
              <a:t>Platform overview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48472" y="3401568"/>
            <a:ext cx="28803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1C2B27"/>
                </a:solidFill>
                <a:latin typeface="Consolas"/>
              </a:rPr>
              <a:t>/admin/users  ·  /admin/circles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48472" y="3602736"/>
            <a:ext cx="2880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5C7268"/>
                </a:solidFill>
                <a:latin typeface="Segoe UI"/>
              </a:rPr>
              <a:t>Accounts and circles across the platform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48472" y="3950208"/>
            <a:ext cx="28803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1C2B27"/>
                </a:solidFill>
                <a:latin typeface="Consolas"/>
              </a:rPr>
              <a:t>/admin/emails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48472" y="4151376"/>
            <a:ext cx="2880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5C7268"/>
                </a:solidFill>
                <a:latin typeface="Segoe UI"/>
              </a:rPr>
              <a:t>Outbound mail log — no provider needed to test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5800" y="5285232"/>
            <a:ext cx="10820095" cy="877824"/>
          </a:xfrm>
          <a:prstGeom prst="roundRect">
            <a:avLst>
              <a:gd name="adj" fmla="val 9000"/>
            </a:avLst>
          </a:prstGeom>
          <a:solidFill>
            <a:srgbClr val="07231B"/>
          </a:solidFill>
          <a:ln w="12700">
            <a:solidFill>
              <a:srgbClr val="07231B"/>
            </a:solidFill>
          </a:ln>
          <a:effectLst>
            <a:outerShdw blurRad="431800" dist="152400" dir="5400000" rotWithShape="0">
              <a:srgbClr val="14281E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43000" y="5486400"/>
            <a:ext cx="58521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Consolas"/>
              </a:rPr>
              <a:t>Run it: cd frontend &amp;&amp; npm install &amp;&amp; npm run dev</a:t>
            </a:r>
          </a:p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9FB8AD"/>
                </a:solidFill>
                <a:latin typeface="Segoe UI"/>
              </a:rPr>
              <a:t>With nothing configured the app runs in demo mode against an in-memory mock of every resource.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299655" y="5541264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F5B301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0" bIns="0"/>
          <a:lstStyle/>
          <a:p>
            <a:pPr algn="ctr"/>
            <a:r>
              <a:rPr sz="950" b="1">
                <a:solidFill>
                  <a:srgbClr val="F5B301"/>
                </a:solidFill>
                <a:latin typeface="Segoe UI"/>
              </a:rPr>
              <a:t>Demo  ·  mock runtime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311335" y="5541264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34E0A1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0" bIns="0"/>
          <a:lstStyle/>
          <a:p>
            <a:pPr algn="ctr"/>
            <a:r>
              <a:rPr sz="950" b="1">
                <a:solidFill>
                  <a:srgbClr val="34E0A1"/>
                </a:solidFill>
                <a:latin typeface="Segoe UI"/>
              </a:rPr>
              <a:t>Live  ·  local / sub0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" y="629107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5C7268"/>
                </a:solidFill>
                <a:latin typeface="Segoe UI"/>
              </a:rPr>
              <a:t>CircleSafe  ·  Trustworthy Ajo. Every naira accounted for.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77095" y="629107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1" i="0">
                <a:solidFill>
                  <a:srgbClr val="5C7268"/>
                </a:solidFill>
                <a:latin typeface="Segoe UI"/>
              </a:rPr>
              <a:t>09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23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-2651760"/>
            <a:ext cx="6035040" cy="6035040"/>
          </a:xfrm>
          <a:prstGeom prst="ellipse">
            <a:avLst/>
          </a:prstGeom>
          <a:solidFill>
            <a:srgbClr val="0FA968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737360" y="4663440"/>
            <a:ext cx="4572000" cy="4572000"/>
          </a:xfrm>
          <a:prstGeom prst="ellipse">
            <a:avLst/>
          </a:prstGeom>
          <a:solidFill>
            <a:srgbClr val="F5B301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7548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 spc="140">
                <a:solidFill>
                  <a:srgbClr val="34E0A1"/>
                </a:solidFill>
                <a:latin typeface="Segoe UI"/>
              </a:rPr>
              <a:t>STACK, SECURITY &amp; WHAT'S NEXT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786384"/>
            <a:ext cx="108200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FFFFFF"/>
                </a:solidFill>
                <a:latin typeface="Segoe UI"/>
              </a:rPr>
              <a:t>Built to be audited.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700784"/>
            <a:ext cx="3502152" cy="3108960"/>
          </a:xfrm>
          <a:prstGeom prst="roundRect">
            <a:avLst>
              <a:gd name="adj" fmla="val 9000"/>
            </a:avLst>
          </a:prstGeom>
          <a:solidFill>
            <a:srgbClr val="0C3025"/>
          </a:solidFill>
          <a:ln w="12700">
            <a:solidFill>
              <a:srgbClr val="1751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96696" y="1975104"/>
            <a:ext cx="2880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 i="0" spc="130">
                <a:solidFill>
                  <a:srgbClr val="34E0A1"/>
                </a:solidFill>
                <a:latin typeface="Segoe UI"/>
              </a:rPr>
              <a:t>STACK</a:t>
            </a:r>
          </a:p>
        </p:txBody>
      </p:sp>
      <p:sp>
        <p:nvSpPr>
          <p:cNvPr id="9" name="Oval 8"/>
          <p:cNvSpPr/>
          <p:nvPr/>
        </p:nvSpPr>
        <p:spPr>
          <a:xfrm>
            <a:off x="1014984" y="2478024"/>
            <a:ext cx="82296" cy="82296"/>
          </a:xfrm>
          <a:prstGeom prst="ellipse">
            <a:avLst/>
          </a:prstGeom>
          <a:solidFill>
            <a:srgbClr val="34E0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52728" y="2395728"/>
            <a:ext cx="262432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BFD4C9"/>
                </a:solidFill>
                <a:latin typeface="Segoe UI"/>
              </a:rPr>
              <a:t>Next.js 16 · React 19 · TypeScript</a:t>
            </a:r>
          </a:p>
        </p:txBody>
      </p:sp>
      <p:sp>
        <p:nvSpPr>
          <p:cNvPr id="11" name="Oval 10"/>
          <p:cNvSpPr/>
          <p:nvPr/>
        </p:nvSpPr>
        <p:spPr>
          <a:xfrm>
            <a:off x="1014984" y="2862072"/>
            <a:ext cx="82296" cy="82296"/>
          </a:xfrm>
          <a:prstGeom prst="ellipse">
            <a:avLst/>
          </a:prstGeom>
          <a:solidFill>
            <a:srgbClr val="34E0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52728" y="2779776"/>
            <a:ext cx="262432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BFD4C9"/>
                </a:solidFill>
                <a:latin typeface="Segoe UI"/>
              </a:rPr>
              <a:t>Tailwind CSS · Recharts · dnd-kit</a:t>
            </a:r>
          </a:p>
        </p:txBody>
      </p:sp>
      <p:sp>
        <p:nvSpPr>
          <p:cNvPr id="13" name="Oval 12"/>
          <p:cNvSpPr/>
          <p:nvPr/>
        </p:nvSpPr>
        <p:spPr>
          <a:xfrm>
            <a:off x="1014984" y="3246120"/>
            <a:ext cx="82296" cy="82296"/>
          </a:xfrm>
          <a:prstGeom prst="ellipse">
            <a:avLst/>
          </a:prstGeom>
          <a:solidFill>
            <a:srgbClr val="34E0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52728" y="3163824"/>
            <a:ext cx="262432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BFD4C9"/>
                </a:solidFill>
                <a:latin typeface="Segoe UI"/>
              </a:rPr>
              <a:t>framer-motion · ogl · lucide-react</a:t>
            </a:r>
          </a:p>
        </p:txBody>
      </p:sp>
      <p:sp>
        <p:nvSpPr>
          <p:cNvPr id="15" name="Oval 14"/>
          <p:cNvSpPr/>
          <p:nvPr/>
        </p:nvSpPr>
        <p:spPr>
          <a:xfrm>
            <a:off x="1014984" y="3630168"/>
            <a:ext cx="82296" cy="82296"/>
          </a:xfrm>
          <a:prstGeom prst="ellipse">
            <a:avLst/>
          </a:prstGeom>
          <a:solidFill>
            <a:srgbClr val="34E0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52728" y="3547872"/>
            <a:ext cx="262432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BFD4C9"/>
                </a:solidFill>
                <a:latin typeface="Segoe UI"/>
              </a:rPr>
              <a:t>Sub0 — declarative JSON backend</a:t>
            </a:r>
          </a:p>
        </p:txBody>
      </p:sp>
      <p:sp>
        <p:nvSpPr>
          <p:cNvPr id="17" name="Oval 16"/>
          <p:cNvSpPr/>
          <p:nvPr/>
        </p:nvSpPr>
        <p:spPr>
          <a:xfrm>
            <a:off x="1014984" y="4014216"/>
            <a:ext cx="82296" cy="82296"/>
          </a:xfrm>
          <a:prstGeom prst="ellipse">
            <a:avLst/>
          </a:prstGeom>
          <a:solidFill>
            <a:srgbClr val="34E0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52728" y="3931920"/>
            <a:ext cx="262432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BFD4C9"/>
                </a:solidFill>
                <a:latin typeface="Segoe UI"/>
              </a:rPr>
              <a:t>PostgreSQL, managed by LingoQL</a:t>
            </a:r>
          </a:p>
        </p:txBody>
      </p:sp>
      <p:sp>
        <p:nvSpPr>
          <p:cNvPr id="19" name="Oval 18"/>
          <p:cNvSpPr/>
          <p:nvPr/>
        </p:nvSpPr>
        <p:spPr>
          <a:xfrm>
            <a:off x="1014984" y="4398264"/>
            <a:ext cx="82296" cy="82296"/>
          </a:xfrm>
          <a:prstGeom prst="ellipse">
            <a:avLst/>
          </a:prstGeom>
          <a:solidFill>
            <a:srgbClr val="34E0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52728" y="4315968"/>
            <a:ext cx="262432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BFD4C9"/>
                </a:solidFill>
                <a:latin typeface="Segoe UI"/>
              </a:rPr>
              <a:t>LingoQL hosting + TLS on 443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61688" y="1700784"/>
            <a:ext cx="3502152" cy="3108960"/>
          </a:xfrm>
          <a:prstGeom prst="roundRect">
            <a:avLst>
              <a:gd name="adj" fmla="val 9000"/>
            </a:avLst>
          </a:prstGeom>
          <a:solidFill>
            <a:srgbClr val="0C3025"/>
          </a:solidFill>
          <a:ln w="12700">
            <a:solidFill>
              <a:srgbClr val="1751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72584" y="1975104"/>
            <a:ext cx="2880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 i="0" spc="130">
                <a:solidFill>
                  <a:srgbClr val="34E0A1"/>
                </a:solidFill>
                <a:latin typeface="Segoe UI"/>
              </a:rPr>
              <a:t>SECURITY</a:t>
            </a:r>
          </a:p>
        </p:txBody>
      </p:sp>
      <p:sp>
        <p:nvSpPr>
          <p:cNvPr id="23" name="Oval 22"/>
          <p:cNvSpPr/>
          <p:nvPr/>
        </p:nvSpPr>
        <p:spPr>
          <a:xfrm>
            <a:off x="4690872" y="2478024"/>
            <a:ext cx="82296" cy="82296"/>
          </a:xfrm>
          <a:prstGeom prst="ellipse">
            <a:avLst/>
          </a:prstGeom>
          <a:solidFill>
            <a:srgbClr val="34E0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28616" y="2395728"/>
            <a:ext cx="262432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BFD4C9"/>
                </a:solidFill>
                <a:latin typeface="Segoe UI"/>
              </a:rPr>
              <a:t>BCRYPT passwords, never returned</a:t>
            </a:r>
          </a:p>
        </p:txBody>
      </p:sp>
      <p:sp>
        <p:nvSpPr>
          <p:cNvPr id="25" name="Oval 24"/>
          <p:cNvSpPr/>
          <p:nvPr/>
        </p:nvSpPr>
        <p:spPr>
          <a:xfrm>
            <a:off x="4690872" y="2862072"/>
            <a:ext cx="82296" cy="82296"/>
          </a:xfrm>
          <a:prstGeom prst="ellipse">
            <a:avLst/>
          </a:prstGeom>
          <a:solidFill>
            <a:srgbClr val="34E0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928616" y="2779776"/>
            <a:ext cx="262432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BFD4C9"/>
                </a:solidFill>
                <a:latin typeface="Segoe UI"/>
              </a:rPr>
              <a:t>Identity from the verified token claim</a:t>
            </a:r>
          </a:p>
        </p:txBody>
      </p:sp>
      <p:sp>
        <p:nvSpPr>
          <p:cNvPr id="27" name="Oval 26"/>
          <p:cNvSpPr/>
          <p:nvPr/>
        </p:nvSpPr>
        <p:spPr>
          <a:xfrm>
            <a:off x="4690872" y="3246120"/>
            <a:ext cx="82296" cy="82296"/>
          </a:xfrm>
          <a:prstGeom prst="ellipse">
            <a:avLst/>
          </a:prstGeom>
          <a:solidFill>
            <a:srgbClr val="34E0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928616" y="3163824"/>
            <a:ext cx="262432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BFD4C9"/>
                </a:solidFill>
                <a:latin typeface="Segoe UI"/>
              </a:rPr>
              <a:t>RBAC enforced in SQL — wrong role, zero rows</a:t>
            </a:r>
          </a:p>
        </p:txBody>
      </p:sp>
      <p:sp>
        <p:nvSpPr>
          <p:cNvPr id="29" name="Oval 28"/>
          <p:cNvSpPr/>
          <p:nvPr/>
        </p:nvSpPr>
        <p:spPr>
          <a:xfrm>
            <a:off x="4690872" y="3630168"/>
            <a:ext cx="82296" cy="82296"/>
          </a:xfrm>
          <a:prstGeom prst="ellipse">
            <a:avLst/>
          </a:prstGeom>
          <a:solidFill>
            <a:srgbClr val="34E0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928616" y="3547872"/>
            <a:ext cx="262432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BFD4C9"/>
                </a:solidFill>
                <a:latin typeface="Segoe UI"/>
              </a:rPr>
              <a:t>Rules writable only while PENDING</a:t>
            </a:r>
          </a:p>
        </p:txBody>
      </p:sp>
      <p:sp>
        <p:nvSpPr>
          <p:cNvPr id="31" name="Oval 30"/>
          <p:cNvSpPr/>
          <p:nvPr/>
        </p:nvSpPr>
        <p:spPr>
          <a:xfrm>
            <a:off x="4690872" y="4014216"/>
            <a:ext cx="82296" cy="82296"/>
          </a:xfrm>
          <a:prstGeom prst="ellipse">
            <a:avLst/>
          </a:prstGeom>
          <a:solidFill>
            <a:srgbClr val="34E0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928616" y="3931920"/>
            <a:ext cx="262432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BFD4C9"/>
                </a:solidFill>
                <a:latin typeface="Segoe UI"/>
              </a:rPr>
              <a:t>Rate limits on auth and mutations</a:t>
            </a:r>
          </a:p>
        </p:txBody>
      </p:sp>
      <p:sp>
        <p:nvSpPr>
          <p:cNvPr id="33" name="Oval 32"/>
          <p:cNvSpPr/>
          <p:nvPr/>
        </p:nvSpPr>
        <p:spPr>
          <a:xfrm>
            <a:off x="4690872" y="4398264"/>
            <a:ext cx="82296" cy="82296"/>
          </a:xfrm>
          <a:prstGeom prst="ellipse">
            <a:avLst/>
          </a:prstGeom>
          <a:solidFill>
            <a:srgbClr val="34E0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928616" y="4315968"/>
            <a:ext cx="262432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BFD4C9"/>
                </a:solidFill>
                <a:latin typeface="Segoe UI"/>
              </a:rPr>
              <a:t>Secrets only via $ENV; audit log INSERT-only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37576" y="1700784"/>
            <a:ext cx="3502152" cy="3108960"/>
          </a:xfrm>
          <a:prstGeom prst="roundRect">
            <a:avLst>
              <a:gd name="adj" fmla="val 9000"/>
            </a:avLst>
          </a:prstGeom>
          <a:solidFill>
            <a:srgbClr val="0C3025"/>
          </a:solidFill>
          <a:ln w="12700">
            <a:solidFill>
              <a:srgbClr val="1751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48472" y="1975104"/>
            <a:ext cx="2880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 i="0" spc="130">
                <a:solidFill>
                  <a:srgbClr val="34E0A1"/>
                </a:solidFill>
                <a:latin typeface="Segoe UI"/>
              </a:rPr>
              <a:t>ROADMAP</a:t>
            </a:r>
          </a:p>
        </p:txBody>
      </p:sp>
      <p:sp>
        <p:nvSpPr>
          <p:cNvPr id="37" name="Oval 36"/>
          <p:cNvSpPr/>
          <p:nvPr/>
        </p:nvSpPr>
        <p:spPr>
          <a:xfrm>
            <a:off x="8366760" y="2478024"/>
            <a:ext cx="82296" cy="82296"/>
          </a:xfrm>
          <a:prstGeom prst="ellipse">
            <a:avLst/>
          </a:prstGeom>
          <a:solidFill>
            <a:srgbClr val="F5B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04504" y="2395728"/>
            <a:ext cx="262432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BFD4C9"/>
                </a:solidFill>
                <a:latin typeface="Segoe UI"/>
              </a:rPr>
              <a:t>Reminders — cron + queues for due dates</a:t>
            </a:r>
          </a:p>
        </p:txBody>
      </p:sp>
      <p:sp>
        <p:nvSpPr>
          <p:cNvPr id="39" name="Oval 38"/>
          <p:cNvSpPr/>
          <p:nvPr/>
        </p:nvSpPr>
        <p:spPr>
          <a:xfrm>
            <a:off x="8366760" y="2862072"/>
            <a:ext cx="82296" cy="82296"/>
          </a:xfrm>
          <a:prstGeom prst="ellipse">
            <a:avLst/>
          </a:prstGeom>
          <a:solidFill>
            <a:srgbClr val="F5B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604504" y="2779776"/>
            <a:ext cx="262432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BFD4C9"/>
                </a:solidFill>
                <a:latin typeface="Segoe UI"/>
              </a:rPr>
              <a:t>SMS / WhatsApp — members live in chat</a:t>
            </a:r>
          </a:p>
        </p:txBody>
      </p:sp>
      <p:sp>
        <p:nvSpPr>
          <p:cNvPr id="41" name="Oval 40"/>
          <p:cNvSpPr/>
          <p:nvPr/>
        </p:nvSpPr>
        <p:spPr>
          <a:xfrm>
            <a:off x="8366760" y="3246120"/>
            <a:ext cx="82296" cy="82296"/>
          </a:xfrm>
          <a:prstGeom prst="ellipse">
            <a:avLst/>
          </a:prstGeom>
          <a:solidFill>
            <a:srgbClr val="F5B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604504" y="3163824"/>
            <a:ext cx="262432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BFD4C9"/>
                </a:solidFill>
                <a:latin typeface="Segoe UI"/>
              </a:rPr>
              <a:t>Payment rails — settle in-app</a:t>
            </a:r>
          </a:p>
        </p:txBody>
      </p:sp>
      <p:sp>
        <p:nvSpPr>
          <p:cNvPr id="43" name="Oval 42"/>
          <p:cNvSpPr/>
          <p:nvPr/>
        </p:nvSpPr>
        <p:spPr>
          <a:xfrm>
            <a:off x="8366760" y="3630168"/>
            <a:ext cx="82296" cy="82296"/>
          </a:xfrm>
          <a:prstGeom prst="ellipse">
            <a:avLst/>
          </a:prstGeom>
          <a:solidFill>
            <a:srgbClr val="F5B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604504" y="3547872"/>
            <a:ext cx="262432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BFD4C9"/>
                </a:solidFill>
                <a:latin typeface="Segoe UI"/>
              </a:rPr>
              <a:t>Portable, signed trust-score export</a:t>
            </a:r>
          </a:p>
        </p:txBody>
      </p:sp>
      <p:sp>
        <p:nvSpPr>
          <p:cNvPr id="45" name="Oval 44"/>
          <p:cNvSpPr/>
          <p:nvPr/>
        </p:nvSpPr>
        <p:spPr>
          <a:xfrm>
            <a:off x="8366760" y="4014216"/>
            <a:ext cx="82296" cy="82296"/>
          </a:xfrm>
          <a:prstGeom prst="ellipse">
            <a:avLst/>
          </a:prstGeom>
          <a:solidFill>
            <a:srgbClr val="F5B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604504" y="3931920"/>
            <a:ext cx="262432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BFD4C9"/>
                </a:solidFill>
                <a:latin typeface="Segoe UI"/>
              </a:rPr>
              <a:t>Receipt uploads as secondary evidence</a:t>
            </a:r>
          </a:p>
        </p:txBody>
      </p:sp>
      <p:sp>
        <p:nvSpPr>
          <p:cNvPr id="47" name="Oval 46"/>
          <p:cNvSpPr/>
          <p:nvPr/>
        </p:nvSpPr>
        <p:spPr>
          <a:xfrm>
            <a:off x="8366760" y="4398264"/>
            <a:ext cx="82296" cy="82296"/>
          </a:xfrm>
          <a:prstGeom prst="ellipse">
            <a:avLst/>
          </a:prstGeom>
          <a:solidFill>
            <a:srgbClr val="F5B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604504" y="4315968"/>
            <a:ext cx="262432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BFD4C9"/>
                </a:solidFill>
                <a:latin typeface="Segoe UI"/>
              </a:rPr>
              <a:t>Multi-currency and diaspora circles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85800" y="5047488"/>
            <a:ext cx="10820095" cy="1060704"/>
          </a:xfrm>
          <a:prstGeom prst="roundRect">
            <a:avLst>
              <a:gd name="adj" fmla="val 9000"/>
            </a:avLst>
          </a:prstGeom>
          <a:solidFill>
            <a:srgbClr val="0FA968"/>
          </a:solidFill>
          <a:ln w="12700">
            <a:solidFill>
              <a:srgbClr val="0FA968"/>
            </a:solidFill>
          </a:ln>
          <a:effectLst>
            <a:outerShdw blurRad="330200" dist="127000" dir="5400000" rotWithShape="0">
              <a:srgbClr val="0FA968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188720" y="5266944"/>
            <a:ext cx="7680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2000" b="1" i="0">
                <a:solidFill>
                  <a:srgbClr val="FFFFFF"/>
                </a:solidFill>
                <a:latin typeface="Segoe UI"/>
              </a:rPr>
              <a:t>Keep the tradition. Replace the notebook.</a:t>
            </a:r>
          </a:p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D8F5E8"/>
                </a:solidFill>
                <a:latin typeface="Segoe UI"/>
              </a:rPr>
              <a:t>github.com/akaheem/Circle-Safe  ·  README.md · DEPLOYMENT.md · SELF_HOSTING.md · DEMO_SCRIPT.md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219895" y="5358384"/>
            <a:ext cx="1783080" cy="43891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0" bIns="0"/>
          <a:lstStyle/>
          <a:p>
            <a:pPr algn="ctr"/>
            <a:r>
              <a:rPr sz="1300" b="1">
                <a:solidFill>
                  <a:srgbClr val="0B8452"/>
                </a:solidFill>
                <a:latin typeface="Segoe UI"/>
              </a:rPr>
              <a:t>CircleSafe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5800" y="629107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6C8A7D"/>
                </a:solidFill>
                <a:latin typeface="Segoe UI"/>
              </a:rPr>
              <a:t>CircleSafe  ·  Trustworthy Ajo. Every naira accounted for.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677095" y="629107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1" i="0">
                <a:solidFill>
                  <a:srgbClr val="6C8A7D"/>
                </a:solidFill>
                <a:latin typeface="Segoe UI"/>
              </a:rP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